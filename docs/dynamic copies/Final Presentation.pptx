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9144000"/>
  <p:embeddedFontLst>
    <p:embeddedFont>
      <p:font typeface="Roboto Slab"/>
      <p:regular r:id="rId15"/>
      <p:bold r:id="rId16"/>
    </p:embeddedFont>
    <p:embeddedFont>
      <p:font typeface="Roboto"/>
      <p:regular r:id="rId17"/>
      <p:bold r:id="rId18"/>
      <p:italic r:id="rId19"/>
      <p:boldItalic r:id="rId20"/>
    </p:embeddedFont>
    <p:embeddedFont>
      <p:font typeface="Inconsolata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jAq9eigG0AJwhc7EHgAb/AKf3/j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11" Type="http://schemas.openxmlformats.org/officeDocument/2006/relationships/slide" Target="slides/slide7.xml"/><Relationship Id="rId22" Type="http://schemas.openxmlformats.org/officeDocument/2006/relationships/font" Target="fonts/Inconsolata-bold.fntdata"/><Relationship Id="rId10" Type="http://schemas.openxmlformats.org/officeDocument/2006/relationships/slide" Target="slides/slide6.xml"/><Relationship Id="rId21" Type="http://schemas.openxmlformats.org/officeDocument/2006/relationships/font" Target="fonts/Inconsolata-regular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RobotoSlab-regular.fntdata"/><Relationship Id="rId14" Type="http://schemas.openxmlformats.org/officeDocument/2006/relationships/slide" Target="slides/slide10.xml"/><Relationship Id="rId17" Type="http://schemas.openxmlformats.org/officeDocument/2006/relationships/font" Target="fonts/Roboto-regular.fntdata"/><Relationship Id="rId16" Type="http://schemas.openxmlformats.org/officeDocument/2006/relationships/font" Target="fonts/RobotoSlab-bold.fntdata"/><Relationship Id="rId5" Type="http://schemas.openxmlformats.org/officeDocument/2006/relationships/slide" Target="slides/slide1.xml"/><Relationship Id="rId19" Type="http://schemas.openxmlformats.org/officeDocument/2006/relationships/font" Target="fonts/Roboto-italic.fntdata"/><Relationship Id="rId6" Type="http://schemas.openxmlformats.org/officeDocument/2006/relationships/slide" Target="slides/slide2.xml"/><Relationship Id="rId18" Type="http://schemas.openxmlformats.org/officeDocument/2006/relationships/font" Target="fonts/Roboto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Everyone introduce themselves (say your name)</a:t>
            </a:r>
            <a:endParaRPr/>
          </a:p>
        </p:txBody>
      </p:sp>
      <p:sp>
        <p:nvSpPr>
          <p:cNvPr id="78" name="Google Shape;7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91455bd13c_0_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91455bd13c_0_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391455bd13c_0_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91455bd13c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91455bd13c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Sammy</a:t>
            </a:r>
            <a:endParaRPr/>
          </a:p>
        </p:txBody>
      </p:sp>
      <p:sp>
        <p:nvSpPr>
          <p:cNvPr id="95" name="Google Shape;95;g391455bd13c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1455bd13c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g391455bd13c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Bjordi (web) and Craig (iOS)</a:t>
            </a:r>
            <a:endParaRPr/>
          </a:p>
        </p:txBody>
      </p:sp>
      <p:sp>
        <p:nvSpPr>
          <p:cNvPr id="103" name="Google Shape;103;g391455bd13c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91455bd13c_1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91455bd13c_1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Aliyan</a:t>
            </a:r>
            <a:endParaRPr/>
          </a:p>
        </p:txBody>
      </p:sp>
      <p:sp>
        <p:nvSpPr>
          <p:cNvPr id="111" name="Google Shape;111;g391455bd13c_1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1455bd13c_1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91455bd13c_1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Aliyan</a:t>
            </a:r>
            <a:endParaRPr/>
          </a:p>
        </p:txBody>
      </p:sp>
      <p:sp>
        <p:nvSpPr>
          <p:cNvPr id="119" name="Google Shape;119;g391455bd13c_1_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91455bd13c_1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91455bd13c_1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Bjordi</a:t>
            </a:r>
            <a:endParaRPr/>
          </a:p>
        </p:txBody>
      </p:sp>
      <p:sp>
        <p:nvSpPr>
          <p:cNvPr id="127" name="Google Shape;127;g391455bd13c_1_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1455bd13c_0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91455bd13c_0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Craig</a:t>
            </a:r>
            <a:endParaRPr/>
          </a:p>
        </p:txBody>
      </p:sp>
      <p:sp>
        <p:nvSpPr>
          <p:cNvPr id="135" name="Google Shape;135;g391455bd13c_0_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91455bd13c_1_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91455bd13c_1_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Sammy</a:t>
            </a:r>
            <a:endParaRPr/>
          </a:p>
        </p:txBody>
      </p:sp>
      <p:sp>
        <p:nvSpPr>
          <p:cNvPr id="144" name="Google Shape;144;g391455bd13c_1_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6fdaf47e4c_1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g36fdaf47e4c_1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Try to collect feedback that we can use in the final report</a:t>
            </a:r>
            <a:endParaRPr/>
          </a:p>
        </p:txBody>
      </p:sp>
      <p:sp>
        <p:nvSpPr>
          <p:cNvPr id="152" name="Google Shape;152;g36fdaf47e4c_1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ad448cf149_0_920"/>
          <p:cNvSpPr/>
          <p:nvPr/>
        </p:nvSpPr>
        <p:spPr>
          <a:xfrm>
            <a:off x="2033067" y="896808"/>
            <a:ext cx="1442131" cy="1499896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3810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5" name="Google Shape;15;g3ad448cf149_0_920"/>
          <p:cNvSpPr/>
          <p:nvPr/>
        </p:nvSpPr>
        <p:spPr>
          <a:xfrm rot="10800000">
            <a:off x="8716786" y="4457271"/>
            <a:ext cx="1442131" cy="1499896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3810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6" name="Google Shape;16;g3ad448cf149_0_920"/>
          <p:cNvCxnSpPr/>
          <p:nvPr/>
        </p:nvCxnSpPr>
        <p:spPr>
          <a:xfrm>
            <a:off x="5812802" y="3756618"/>
            <a:ext cx="566400" cy="0"/>
          </a:xfrm>
          <a:prstGeom prst="straightConnector1">
            <a:avLst/>
          </a:prstGeom>
          <a:noFill/>
          <a:ln cap="flat" cmpd="sng" w="508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g3ad448cf149_0_920"/>
          <p:cNvSpPr txBox="1"/>
          <p:nvPr>
            <p:ph type="ctrTitle"/>
          </p:nvPr>
        </p:nvSpPr>
        <p:spPr>
          <a:xfrm>
            <a:off x="2240402" y="1585234"/>
            <a:ext cx="7711200" cy="19431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/>
        </p:txBody>
      </p:sp>
      <p:sp>
        <p:nvSpPr>
          <p:cNvPr id="18" name="Google Shape;18;g3ad448cf149_0_920"/>
          <p:cNvSpPr txBox="1"/>
          <p:nvPr>
            <p:ph idx="1" type="subTitle"/>
          </p:nvPr>
        </p:nvSpPr>
        <p:spPr>
          <a:xfrm>
            <a:off x="2240402" y="4065933"/>
            <a:ext cx="7711200" cy="1212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Roboto Slab"/>
              <a:buNone/>
              <a:defRPr sz="32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Roboto Slab"/>
              <a:buNone/>
              <a:defRPr sz="32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Roboto Slab"/>
              <a:buNone/>
              <a:defRPr sz="32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Roboto Slab"/>
              <a:buNone/>
              <a:defRPr sz="32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Roboto Slab"/>
              <a:buNone/>
              <a:defRPr sz="32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Roboto Slab"/>
              <a:buNone/>
              <a:defRPr sz="32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Roboto Slab"/>
              <a:buNone/>
              <a:defRPr sz="32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Roboto Slab"/>
              <a:buNone/>
              <a:defRPr sz="32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Roboto Slab"/>
              <a:buNone/>
              <a:defRPr sz="32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9" name="Google Shape;19;g3ad448cf149_0_92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g3ad448cf149_0_927"/>
          <p:cNvCxnSpPr/>
          <p:nvPr/>
        </p:nvCxnSpPr>
        <p:spPr>
          <a:xfrm>
            <a:off x="5812802" y="3756618"/>
            <a:ext cx="566400" cy="0"/>
          </a:xfrm>
          <a:prstGeom prst="straightConnector1">
            <a:avLst/>
          </a:prstGeom>
          <a:noFill/>
          <a:ln cap="flat" cmpd="sng" w="508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g3ad448cf149_0_927"/>
          <p:cNvSpPr txBox="1"/>
          <p:nvPr>
            <p:ph type="title"/>
          </p:nvPr>
        </p:nvSpPr>
        <p:spPr>
          <a:xfrm>
            <a:off x="641000" y="2353267"/>
            <a:ext cx="10962900" cy="1209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23" name="Google Shape;23;g3ad448cf149_0_92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Google Shape;25;g3ad448cf149_0_931"/>
          <p:cNvCxnSpPr/>
          <p:nvPr/>
        </p:nvCxnSpPr>
        <p:spPr>
          <a:xfrm>
            <a:off x="656750" y="1680378"/>
            <a:ext cx="566400" cy="0"/>
          </a:xfrm>
          <a:prstGeom prst="straightConnector1">
            <a:avLst/>
          </a:prstGeom>
          <a:noFill/>
          <a:ln cap="flat" cmpd="sng" w="508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" name="Google Shape;26;g3ad448cf149_0_931"/>
          <p:cNvSpPr txBox="1"/>
          <p:nvPr>
            <p:ph type="title"/>
          </p:nvPr>
        </p:nvSpPr>
        <p:spPr>
          <a:xfrm>
            <a:off x="517200" y="610700"/>
            <a:ext cx="11157600" cy="914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27" name="Google Shape;27;g3ad448cf149_0_931"/>
          <p:cNvSpPr txBox="1"/>
          <p:nvPr>
            <p:ph idx="1" type="body"/>
          </p:nvPr>
        </p:nvSpPr>
        <p:spPr>
          <a:xfrm>
            <a:off x="517200" y="1986432"/>
            <a:ext cx="11157600" cy="410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28" name="Google Shape;28;g3ad448cf149_0_93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Google Shape;30;g3ad448cf149_0_936"/>
          <p:cNvCxnSpPr/>
          <p:nvPr/>
        </p:nvCxnSpPr>
        <p:spPr>
          <a:xfrm>
            <a:off x="656750" y="1680378"/>
            <a:ext cx="566400" cy="0"/>
          </a:xfrm>
          <a:prstGeom prst="straightConnector1">
            <a:avLst/>
          </a:prstGeom>
          <a:noFill/>
          <a:ln cap="flat" cmpd="sng" w="508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" name="Google Shape;31;g3ad448cf149_0_936"/>
          <p:cNvSpPr txBox="1"/>
          <p:nvPr>
            <p:ph type="title"/>
          </p:nvPr>
        </p:nvSpPr>
        <p:spPr>
          <a:xfrm>
            <a:off x="517200" y="610700"/>
            <a:ext cx="11157600" cy="914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32" name="Google Shape;32;g3ad448cf149_0_936"/>
          <p:cNvSpPr txBox="1"/>
          <p:nvPr>
            <p:ph idx="1" type="body"/>
          </p:nvPr>
        </p:nvSpPr>
        <p:spPr>
          <a:xfrm>
            <a:off x="517200" y="1986433"/>
            <a:ext cx="5333100" cy="410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3" name="Google Shape;33;g3ad448cf149_0_936"/>
          <p:cNvSpPr txBox="1"/>
          <p:nvPr>
            <p:ph idx="2" type="body"/>
          </p:nvPr>
        </p:nvSpPr>
        <p:spPr>
          <a:xfrm>
            <a:off x="6341600" y="1986433"/>
            <a:ext cx="5333100" cy="410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4" name="Google Shape;34;g3ad448cf149_0_93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ad448cf149_0_942"/>
          <p:cNvSpPr txBox="1"/>
          <p:nvPr>
            <p:ph type="title"/>
          </p:nvPr>
        </p:nvSpPr>
        <p:spPr>
          <a:xfrm>
            <a:off x="517200" y="610700"/>
            <a:ext cx="11157600" cy="914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37" name="Google Shape;37;g3ad448cf149_0_94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Google Shape;39;g3ad448cf149_0_945"/>
          <p:cNvCxnSpPr/>
          <p:nvPr/>
        </p:nvCxnSpPr>
        <p:spPr>
          <a:xfrm>
            <a:off x="652291" y="1883036"/>
            <a:ext cx="441900" cy="0"/>
          </a:xfrm>
          <a:prstGeom prst="straightConnector1">
            <a:avLst/>
          </a:prstGeom>
          <a:noFill/>
          <a:ln cap="flat" cmpd="sng" w="508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g3ad448cf149_0_945"/>
          <p:cNvSpPr txBox="1"/>
          <p:nvPr>
            <p:ph type="title"/>
          </p:nvPr>
        </p:nvSpPr>
        <p:spPr>
          <a:xfrm>
            <a:off x="517200" y="740800"/>
            <a:ext cx="37440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41" name="Google Shape;41;g3ad448cf149_0_945"/>
          <p:cNvSpPr txBox="1"/>
          <p:nvPr>
            <p:ph idx="1" type="body"/>
          </p:nvPr>
        </p:nvSpPr>
        <p:spPr>
          <a:xfrm>
            <a:off x="517200" y="2125367"/>
            <a:ext cx="3744000" cy="3574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2" name="Google Shape;42;g3ad448cf149_0_94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ad448cf149_0_950"/>
          <p:cNvSpPr txBox="1"/>
          <p:nvPr>
            <p:ph type="title"/>
          </p:nvPr>
        </p:nvSpPr>
        <p:spPr>
          <a:xfrm>
            <a:off x="653667" y="701800"/>
            <a:ext cx="74916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45" name="Google Shape;45;g3ad448cf149_0_95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ad448cf149_0_953"/>
          <p:cNvSpPr/>
          <p:nvPr/>
        </p:nvSpPr>
        <p:spPr>
          <a:xfrm>
            <a:off x="6096000" y="-100"/>
            <a:ext cx="6096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8" name="Google Shape;48;g3ad448cf149_0_953"/>
          <p:cNvCxnSpPr/>
          <p:nvPr/>
        </p:nvCxnSpPr>
        <p:spPr>
          <a:xfrm>
            <a:off x="6706233" y="5994004"/>
            <a:ext cx="721200" cy="0"/>
          </a:xfrm>
          <a:prstGeom prst="straightConnector1">
            <a:avLst/>
          </a:prstGeom>
          <a:noFill/>
          <a:ln cap="flat" cmpd="sng" w="508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" name="Google Shape;49;g3ad448cf149_0_953"/>
          <p:cNvSpPr txBox="1"/>
          <p:nvPr>
            <p:ph type="title"/>
          </p:nvPr>
        </p:nvSpPr>
        <p:spPr>
          <a:xfrm>
            <a:off x="354000" y="1612100"/>
            <a:ext cx="5393700" cy="20085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1pPr>
            <a:lvl2pPr lvl="1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/>
        </p:txBody>
      </p:sp>
      <p:sp>
        <p:nvSpPr>
          <p:cNvPr id="50" name="Google Shape;50;g3ad448cf149_0_953"/>
          <p:cNvSpPr txBox="1"/>
          <p:nvPr>
            <p:ph idx="1" type="subTitle"/>
          </p:nvPr>
        </p:nvSpPr>
        <p:spPr>
          <a:xfrm>
            <a:off x="354000" y="3692001"/>
            <a:ext cx="5393700" cy="1794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 sz="28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 sz="28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 sz="28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 sz="28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 sz="28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 sz="28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 sz="28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 sz="28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 sz="28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1" name="Google Shape;51;g3ad448cf149_0_953"/>
          <p:cNvSpPr txBox="1"/>
          <p:nvPr>
            <p:ph idx="2" type="body"/>
          </p:nvPr>
        </p:nvSpPr>
        <p:spPr>
          <a:xfrm>
            <a:off x="6586000" y="965600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52" name="Google Shape;52;g3ad448cf149_0_95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ad448cf149_0_960"/>
          <p:cNvSpPr txBox="1"/>
          <p:nvPr>
            <p:ph idx="1" type="body"/>
          </p:nvPr>
        </p:nvSpPr>
        <p:spPr>
          <a:xfrm>
            <a:off x="426000" y="5644967"/>
            <a:ext cx="7998300" cy="79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5" name="Google Shape;55;g3ad448cf149_0_96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d448cf149_0_963"/>
          <p:cNvSpPr/>
          <p:nvPr/>
        </p:nvSpPr>
        <p:spPr>
          <a:xfrm>
            <a:off x="200" y="6769100"/>
            <a:ext cx="12191700" cy="88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g3ad448cf149_0_963"/>
          <p:cNvSpPr txBox="1"/>
          <p:nvPr>
            <p:ph hasCustomPrompt="1" type="title"/>
          </p:nvPr>
        </p:nvSpPr>
        <p:spPr>
          <a:xfrm>
            <a:off x="517200" y="1536600"/>
            <a:ext cx="11157600" cy="20511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7300"/>
              <a:buNone/>
              <a:defRPr sz="173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7300"/>
              <a:buNone/>
              <a:defRPr sz="173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7300"/>
              <a:buNone/>
              <a:defRPr sz="173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7300"/>
              <a:buNone/>
              <a:defRPr sz="173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7300"/>
              <a:buNone/>
              <a:defRPr sz="173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7300"/>
              <a:buNone/>
              <a:defRPr sz="173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7300"/>
              <a:buNone/>
              <a:defRPr sz="173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7300"/>
              <a:buNone/>
              <a:defRPr sz="173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7300"/>
              <a:buNone/>
              <a:defRPr sz="173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g3ad448cf149_0_963"/>
          <p:cNvSpPr txBox="1"/>
          <p:nvPr>
            <p:ph idx="1" type="body"/>
          </p:nvPr>
        </p:nvSpPr>
        <p:spPr>
          <a:xfrm>
            <a:off x="517200" y="3892600"/>
            <a:ext cx="11157600" cy="1428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60" name="Google Shape;60;g3ad448cf149_0_96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d448cf149_0_96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d448cf149_0_97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g3ad448cf149_0_97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g3ad448cf149_0_97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g3ad448cf149_0_97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g3ad448cf149_0_97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ad448cf149_0_97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g3ad448cf149_0_976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g3ad448cf149_0_976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g3ad448cf149_0_97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g3ad448cf149_0_97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g3ad448cf149_0_97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ad448cf149_0_916"/>
          <p:cNvSpPr txBox="1"/>
          <p:nvPr>
            <p:ph type="title"/>
          </p:nvPr>
        </p:nvSpPr>
        <p:spPr>
          <a:xfrm>
            <a:off x="517200" y="610700"/>
            <a:ext cx="11157600" cy="914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 Slab"/>
              <a:buNone/>
              <a:defRPr sz="4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 Slab"/>
              <a:buNone/>
              <a:defRPr sz="4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 Slab"/>
              <a:buNone/>
              <a:defRPr sz="4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 Slab"/>
              <a:buNone/>
              <a:defRPr sz="4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 Slab"/>
              <a:buNone/>
              <a:defRPr sz="4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 Slab"/>
              <a:buNone/>
              <a:defRPr sz="4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 Slab"/>
              <a:buNone/>
              <a:defRPr sz="4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 Slab"/>
              <a:buNone/>
              <a:defRPr sz="4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 Slab"/>
              <a:buNone/>
              <a:defRPr sz="4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1" name="Google Shape;11;g3ad448cf149_0_916"/>
          <p:cNvSpPr txBox="1"/>
          <p:nvPr>
            <p:ph idx="1" type="body"/>
          </p:nvPr>
        </p:nvSpPr>
        <p:spPr>
          <a:xfrm>
            <a:off x="517200" y="1986432"/>
            <a:ext cx="11157600" cy="4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  <a:defRPr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"/>
              <a:buChar char="○"/>
              <a:defRPr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"/>
              <a:buChar char="■"/>
              <a:defRPr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"/>
              <a:buChar char="●"/>
              <a:defRPr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"/>
              <a:buChar char="○"/>
              <a:defRPr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"/>
              <a:buChar char="■"/>
              <a:defRPr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"/>
              <a:buChar char="●"/>
              <a:defRPr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"/>
              <a:buChar char="○"/>
              <a:defRPr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"/>
              <a:buChar char="■"/>
              <a:defRPr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" name="Google Shape;12;g3ad448cf149_0_91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slide" Target="/ppt/slides/slide10.xml"/><Relationship Id="rId10" Type="http://schemas.openxmlformats.org/officeDocument/2006/relationships/slide" Target="/ppt/slides/slide9.xml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3.xml"/><Relationship Id="rId9" Type="http://schemas.openxmlformats.org/officeDocument/2006/relationships/slide" Target="/ppt/slides/slide8.xml"/><Relationship Id="rId5" Type="http://schemas.openxmlformats.org/officeDocument/2006/relationships/slide" Target="/ppt/slides/slide4.xml"/><Relationship Id="rId6" Type="http://schemas.openxmlformats.org/officeDocument/2006/relationships/slide" Target="/ppt/slides/slide5.xml"/><Relationship Id="rId7" Type="http://schemas.openxmlformats.org/officeDocument/2006/relationships/slide" Target="/ppt/slides/slide6.xml"/><Relationship Id="rId8" Type="http://schemas.openxmlformats.org/officeDocument/2006/relationships/slide" Target="/ppt/slides/slide7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it-campus-lost-and-found.firebaseapp.com/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"/>
          <p:cNvSpPr/>
          <p:nvPr/>
        </p:nvSpPr>
        <p:spPr>
          <a:xfrm>
            <a:off x="5464575" y="3165925"/>
            <a:ext cx="1163100" cy="1163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" name="Google Shape;81;p1"/>
          <p:cNvSpPr txBox="1"/>
          <p:nvPr>
            <p:ph type="ctrTitle"/>
          </p:nvPr>
        </p:nvSpPr>
        <p:spPr>
          <a:xfrm>
            <a:off x="2240402" y="1585234"/>
            <a:ext cx="7711200" cy="19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 sz="3600"/>
              <a:t>COMP4960 – Software Engineering</a:t>
            </a:r>
            <a:br>
              <a:rPr b="1" lang="en-US" sz="3600"/>
            </a:br>
            <a:r>
              <a:rPr b="1" lang="en-US" sz="3600"/>
              <a:t>Final Report</a:t>
            </a:r>
            <a:br>
              <a:rPr lang="en-US" sz="3600"/>
            </a:br>
            <a:r>
              <a:rPr lang="en-US" sz="3600"/>
              <a:t>Campus Lost and Found Portal</a:t>
            </a:r>
            <a:endParaRPr/>
          </a:p>
        </p:txBody>
      </p:sp>
      <p:sp>
        <p:nvSpPr>
          <p:cNvPr id="82" name="Google Shape;82;p1"/>
          <p:cNvSpPr txBox="1"/>
          <p:nvPr>
            <p:ph idx="1" type="subTitle"/>
          </p:nvPr>
        </p:nvSpPr>
        <p:spPr>
          <a:xfrm>
            <a:off x="2240402" y="4065933"/>
            <a:ext cx="7711200" cy="12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5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75000"/>
              <a:buNone/>
            </a:pPr>
            <a:r>
              <a:rPr lang="en-US"/>
              <a:t>Team 2: Aliyan, Bjordi, Craig, Sammy</a:t>
            </a:r>
            <a:br>
              <a:rPr lang="en-US"/>
            </a:br>
            <a:r>
              <a:rPr lang="en-US"/>
              <a:t>Date: 12/04/2025</a:t>
            </a:r>
            <a:endParaRPr/>
          </a:p>
        </p:txBody>
      </p:sp>
      <p:sp>
        <p:nvSpPr>
          <p:cNvPr id="83" name="Google Shape;83;p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1455bd13c_0_3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0" name="Google Shape;90;g391455bd13c_0_3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Contents</a:t>
            </a:r>
            <a:endParaRPr/>
          </a:p>
        </p:txBody>
      </p:sp>
      <p:sp>
        <p:nvSpPr>
          <p:cNvPr id="91" name="Google Shape;91;g391455bd13c_0_3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uFill>
                  <a:noFill/>
                </a:uFill>
                <a:latin typeface="Inconsolata"/>
                <a:ea typeface="Inconsolata"/>
                <a:cs typeface="Inconsolata"/>
                <a:sym typeface="Inconsolata"/>
                <a:hlinkClick action="ppaction://hlinksldjump" r:id="rId3"/>
              </a:rPr>
              <a:t>Contents........................................................................</a:t>
            </a:r>
            <a:r>
              <a:rPr lang="en-US" sz="2000">
                <a:latin typeface="Inconsolata"/>
                <a:ea typeface="Inconsolata"/>
                <a:cs typeface="Inconsolata"/>
                <a:sym typeface="Inconsolata"/>
              </a:rPr>
              <a:t>2</a:t>
            </a:r>
            <a:endParaRPr sz="2000"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uFill>
                  <a:noFill/>
                </a:uFill>
                <a:latin typeface="Inconsolata"/>
                <a:ea typeface="Inconsolata"/>
                <a:cs typeface="Inconsolata"/>
                <a:sym typeface="Inconsolata"/>
                <a:hlinkClick action="ppaction://hlinksldjump" r:id="rId4"/>
              </a:rPr>
              <a:t>Project Overview................................................................</a:t>
            </a:r>
            <a:r>
              <a:rPr lang="en-US" sz="2000">
                <a:latin typeface="Inconsolata"/>
                <a:ea typeface="Inconsolata"/>
                <a:cs typeface="Inconsolata"/>
                <a:sym typeface="Inconsolata"/>
              </a:rPr>
              <a:t>3</a:t>
            </a:r>
            <a:endParaRPr sz="2000"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uFill>
                  <a:noFill/>
                </a:uFill>
                <a:latin typeface="Inconsolata"/>
                <a:ea typeface="Inconsolata"/>
                <a:cs typeface="Inconsolata"/>
                <a:sym typeface="Inconsolata"/>
                <a:hlinkClick action="ppaction://hlinksldjump" r:id="rId5"/>
              </a:rPr>
              <a:t>Live Demonstration..............................................................</a:t>
            </a:r>
            <a:r>
              <a:rPr lang="en-US" sz="2000">
                <a:latin typeface="Inconsolata"/>
                <a:ea typeface="Inconsolata"/>
                <a:cs typeface="Inconsolata"/>
                <a:sym typeface="Inconsolata"/>
              </a:rPr>
              <a:t>4</a:t>
            </a:r>
            <a:endParaRPr sz="2000"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uFill>
                  <a:noFill/>
                </a:uFill>
                <a:latin typeface="Inconsolata"/>
                <a:ea typeface="Inconsolata"/>
                <a:cs typeface="Inconsolata"/>
                <a:sym typeface="Inconsolata"/>
                <a:hlinkClick action="ppaction://hlinksldjump" r:id="rId6"/>
              </a:rPr>
              <a:t>What Was Completed..............................................................</a:t>
            </a:r>
            <a:r>
              <a:rPr lang="en-US" sz="2000">
                <a:latin typeface="Inconsolata"/>
                <a:ea typeface="Inconsolata"/>
                <a:cs typeface="Inconsolata"/>
                <a:sym typeface="Inconsolata"/>
              </a:rPr>
              <a:t>5</a:t>
            </a:r>
            <a:endParaRPr sz="2000"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uFill>
                  <a:noFill/>
                </a:uFill>
                <a:latin typeface="Inconsolata"/>
                <a:ea typeface="Inconsolata"/>
                <a:cs typeface="Inconsolata"/>
                <a:sym typeface="Inconsolata"/>
                <a:hlinkClick action="ppaction://hlinksldjump" r:id="rId7"/>
              </a:rPr>
              <a:t>What Was Not Completed..........................................................</a:t>
            </a:r>
            <a:r>
              <a:rPr lang="en-US" sz="2000">
                <a:latin typeface="Inconsolata"/>
                <a:ea typeface="Inconsolata"/>
                <a:cs typeface="Inconsolata"/>
                <a:sym typeface="Inconsolata"/>
              </a:rPr>
              <a:t>6</a:t>
            </a:r>
            <a:endParaRPr sz="2000"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uFill>
                  <a:noFill/>
                </a:uFill>
                <a:latin typeface="Inconsolata"/>
                <a:ea typeface="Inconsolata"/>
                <a:cs typeface="Inconsolata"/>
                <a:sym typeface="Inconsolata"/>
                <a:hlinkClick action="ppaction://hlinksldjump" r:id="rId8"/>
              </a:rPr>
              <a:t>Which Requirements Are Not Implemented..........................................</a:t>
            </a:r>
            <a:r>
              <a:rPr lang="en-US" sz="2000">
                <a:latin typeface="Inconsolata"/>
                <a:ea typeface="Inconsolata"/>
                <a:cs typeface="Inconsolata"/>
                <a:sym typeface="Inconsolata"/>
              </a:rPr>
              <a:t>7</a:t>
            </a:r>
            <a:endParaRPr sz="2000"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uFill>
                  <a:noFill/>
                </a:uFill>
                <a:latin typeface="Inconsolata"/>
                <a:ea typeface="Inconsolata"/>
                <a:cs typeface="Inconsolata"/>
                <a:sym typeface="Inconsolata"/>
                <a:hlinkClick action="ppaction://hlinksldjump" r:id="rId9"/>
              </a:rPr>
              <a:t>Problems Encountered............................................................</a:t>
            </a:r>
            <a:r>
              <a:rPr lang="en-US" sz="2000">
                <a:latin typeface="Inconsolata"/>
                <a:ea typeface="Inconsolata"/>
                <a:cs typeface="Inconsolata"/>
                <a:sym typeface="Inconsolata"/>
              </a:rPr>
              <a:t>8</a:t>
            </a:r>
            <a:endParaRPr sz="2000"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uFill>
                  <a:noFill/>
                </a:uFill>
                <a:latin typeface="Inconsolata"/>
                <a:ea typeface="Inconsolata"/>
                <a:cs typeface="Inconsolata"/>
                <a:sym typeface="Inconsolata"/>
                <a:hlinkClick action="ppaction://hlinksldjump" r:id="rId10"/>
              </a:rPr>
              <a:t>Future Work....................................................................</a:t>
            </a:r>
            <a:r>
              <a:rPr lang="en-US" sz="2000">
                <a:latin typeface="Inconsolata"/>
                <a:ea typeface="Inconsolata"/>
                <a:cs typeface="Inconsolata"/>
                <a:sym typeface="Inconsolata"/>
              </a:rPr>
              <a:t>.9</a:t>
            </a:r>
            <a:endParaRPr sz="2000"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uFill>
                  <a:noFill/>
                </a:uFill>
                <a:latin typeface="Inconsolata"/>
                <a:ea typeface="Inconsolata"/>
                <a:cs typeface="Inconsolata"/>
                <a:sym typeface="Inconsolata"/>
                <a:hlinkClick action="ppaction://hlinksldjump" r:id="rId11"/>
              </a:rPr>
              <a:t>Q&amp;A............................................................................</a:t>
            </a:r>
            <a:r>
              <a:rPr lang="en-US" sz="2000">
                <a:latin typeface="Inconsolata"/>
                <a:ea typeface="Inconsolata"/>
                <a:cs typeface="Inconsolata"/>
                <a:sym typeface="Inconsolata"/>
              </a:rPr>
              <a:t>10</a:t>
            </a:r>
            <a:endParaRPr sz="2000">
              <a:latin typeface="Inconsolata"/>
              <a:ea typeface="Inconsolata"/>
              <a:cs typeface="Inconsolata"/>
              <a:sym typeface="Inconsolat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91455bd13c_0_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8" name="Google Shape;98;g391455bd13c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Project Overview</a:t>
            </a:r>
            <a:endParaRPr/>
          </a:p>
        </p:txBody>
      </p:sp>
      <p:sp>
        <p:nvSpPr>
          <p:cNvPr id="99" name="Google Shape;99;g391455bd13c_0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Our project is a </a:t>
            </a:r>
            <a:r>
              <a:rPr lang="en-US"/>
              <a:t>Lost and Found</a:t>
            </a:r>
            <a:r>
              <a:rPr lang="en-US"/>
              <a:t> portal for the Wentworth campus.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Students and staff who have lost or found personal items around the university can file a report using either the iOS app or our web app.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Item reports may include: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Item description and image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Last known location (building name and/or a map pin)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Reporter’s name and contact information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91455bd13c_1_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" name="Google Shape;106;g391455bd13c_1_0"/>
          <p:cNvSpPr/>
          <p:nvPr/>
        </p:nvSpPr>
        <p:spPr>
          <a:xfrm>
            <a:off x="5464575" y="3165925"/>
            <a:ext cx="1163100" cy="1163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" name="Google Shape;107;g391455bd13c_1_0"/>
          <p:cNvSpPr txBox="1"/>
          <p:nvPr>
            <p:ph type="ctrTitle"/>
          </p:nvPr>
        </p:nvSpPr>
        <p:spPr>
          <a:xfrm>
            <a:off x="1524000" y="2235138"/>
            <a:ext cx="9144000" cy="2387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u="sng">
                <a:solidFill>
                  <a:schemeClr val="hlink"/>
                </a:solidFill>
                <a:hlinkClick r:id="rId3"/>
              </a:rPr>
              <a:t>Live Demonstration</a:t>
            </a:r>
            <a:endParaRPr sz="8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91455bd13c_1_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4" name="Google Shape;114;g391455bd13c_1_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Was Completed</a:t>
            </a:r>
            <a:endParaRPr/>
          </a:p>
        </p:txBody>
      </p:sp>
      <p:sp>
        <p:nvSpPr>
          <p:cNvPr id="115" name="Google Shape;115;g391455bd13c_1_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Microsoft Authentication fully implemented on both iOS and Web using Firebase Auth.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Lost &amp; Found Reporting completed on iOS and Web, including category, description, contact info, and image upload (Firebase Storage).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Category Search Filtering implemented on both platforms.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Database Integration completed on both platforms using Firestore for all text-based data and Firebase Storage for images.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Admin control implemented.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Resolved Status implemented.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Found Item Reporting completed on both iOS and Web.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Location Features (GPS pin drop) implemented on iOS.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600"/>
              <a:buChar char="●"/>
            </a:pPr>
            <a:r>
              <a:rPr lang="en-US" sz="1600"/>
              <a:t>List of Most Recent Reports displays correctly on both iOS and Web.</a:t>
            </a:r>
            <a:endParaRPr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91455bd13c_1_1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2" name="Google Shape;122;g391455bd13c_1_1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Was Not Completed</a:t>
            </a:r>
            <a:endParaRPr/>
          </a:p>
        </p:txBody>
      </p:sp>
      <p:sp>
        <p:nvSpPr>
          <p:cNvPr id="123" name="Google Shape;123;g391455bd13c_1_1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Location Features (GPS pin drop) were not implemented on Web.</a:t>
            </a:r>
            <a:endParaRPr/>
          </a:p>
          <a:p>
            <a:pPr indent="-3429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Editing or Deleting Reports was not supported on iOS; neither platform supports full edit/delete functionality.</a:t>
            </a:r>
            <a:endParaRPr/>
          </a:p>
          <a:p>
            <a:pPr indent="-3429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Email Notifications were not implemented on iOS or Web.</a:t>
            </a:r>
            <a:endParaRPr/>
          </a:p>
          <a:p>
            <a:pPr indent="-3429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●"/>
            </a:pPr>
            <a:r>
              <a:rPr lang="en-US"/>
              <a:t>Location Permission Pop-up not implemented on iOS or Web.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91455bd13c_1_2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0" name="Google Shape;130;g391455bd13c_1_2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Which Requirements Are Not Implemented</a:t>
            </a:r>
            <a:endParaRPr/>
          </a:p>
        </p:txBody>
      </p:sp>
      <p:sp>
        <p:nvSpPr>
          <p:cNvPr id="131" name="Google Shape;131;g391455bd13c_1_2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The system shall send an email notification to a user when their reported lost item gets reported as found by another user.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</a:pPr>
            <a:r>
              <a:rPr lang="en-US"/>
              <a:t>User data and contact information shall only be visible to the item reporter and system administrators.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1455bd13c_0_23"/>
          <p:cNvSpPr txBox="1"/>
          <p:nvPr>
            <p:ph type="title"/>
          </p:nvPr>
        </p:nvSpPr>
        <p:spPr>
          <a:xfrm>
            <a:off x="838200" y="365125"/>
            <a:ext cx="61185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Problems Encountered</a:t>
            </a:r>
            <a:endParaRPr/>
          </a:p>
        </p:txBody>
      </p:sp>
      <p:sp>
        <p:nvSpPr>
          <p:cNvPr id="138" name="Google Shape;138;g391455bd13c_0_23"/>
          <p:cNvSpPr txBox="1"/>
          <p:nvPr>
            <p:ph idx="1" type="body"/>
          </p:nvPr>
        </p:nvSpPr>
        <p:spPr>
          <a:xfrm>
            <a:off x="838200" y="1825625"/>
            <a:ext cx="59109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Due to Wentworth's organizational security policies, students are restricted from using their Microsoft accounts to sign into unrecognized OAuth applications.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We successfully resolved this by submitting a request to the university's Network Systems and Security (NSS) department, and the application was approved after a brief review period, with the limitation that only users within our COMP 4960 section would be allowed access.</a:t>
            </a:r>
            <a:endParaRPr sz="2200"/>
          </a:p>
        </p:txBody>
      </p:sp>
      <p:sp>
        <p:nvSpPr>
          <p:cNvPr id="139" name="Google Shape;139;g391455bd13c_0_2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0" name="Google Shape;140;g391455bd13c_0_23" title="Image.jpeg"/>
          <p:cNvPicPr preferRelativeResize="0"/>
          <p:nvPr/>
        </p:nvPicPr>
        <p:blipFill rotWithShape="1">
          <a:blip r:embed="rId3">
            <a:alphaModFix/>
          </a:blip>
          <a:srcRect b="35041" l="0" r="0" t="4655"/>
          <a:stretch/>
        </p:blipFill>
        <p:spPr>
          <a:xfrm>
            <a:off x="7632470" y="992250"/>
            <a:ext cx="3721330" cy="48734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91455bd13c_1_2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7" name="Google Shape;147;g391455bd13c_1_2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Future Work</a:t>
            </a:r>
            <a:endParaRPr/>
          </a:p>
        </p:txBody>
      </p:sp>
      <p:sp>
        <p:nvSpPr>
          <p:cNvPr id="148" name="Google Shape;148;g391455bd13c_1_2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Image Recognition and AI Matching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Using computer vision models and AI, the images will be automatically extracted of its features. This will also aid in the censoring verification process of the description.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We can have AI give matching confidence scores to potential matches of the found and lost items to help users find their items quicker and more efficiently.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Messaging</a:t>
            </a:r>
            <a:r>
              <a:rPr lang="en-US"/>
              <a:t> System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Incorporating this into the portal would allow users to communicate with each other for meetup times instead of only sending alerts or requiring a third party app to communicate.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User Experience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Have an extra set of questions asked when a found item is matched in order to provide extra security and proof-of-ownership. For example, what is</a:t>
            </a:r>
            <a:r>
              <a:rPr lang="en-US"/>
              <a:t> the wallpaper on your lock screen?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6fdaf47e4c_1_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" name="Google Shape;155;g36fdaf47e4c_1_7"/>
          <p:cNvSpPr/>
          <p:nvPr/>
        </p:nvSpPr>
        <p:spPr>
          <a:xfrm>
            <a:off x="5464575" y="3165925"/>
            <a:ext cx="1163100" cy="1163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" name="Google Shape;156;g36fdaf47e4c_1_7"/>
          <p:cNvSpPr txBox="1"/>
          <p:nvPr>
            <p:ph type="ctrTitle"/>
          </p:nvPr>
        </p:nvSpPr>
        <p:spPr>
          <a:xfrm>
            <a:off x="-570250" y="2001463"/>
            <a:ext cx="9144000" cy="2387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/>
              <a:t>Q&amp;A</a:t>
            </a:r>
            <a:endParaRPr sz="8000"/>
          </a:p>
        </p:txBody>
      </p:sp>
      <p:pic>
        <p:nvPicPr>
          <p:cNvPr id="157" name="Google Shape;157;g36fdaf47e4c_1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90325" y="1538600"/>
            <a:ext cx="3313449" cy="3313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2021-02-17T01:39:14Z</dcterms:created>
  <dc:creator>Pham, Cuong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0x010100C8F9F0EBF511CE45A79FBB72A52630DC</vt:lpwstr>
  </property>
</Properties>
</file>